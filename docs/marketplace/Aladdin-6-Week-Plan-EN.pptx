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1720b99d-fe35-dfb8-49d1-4c4fd8674437}">
          <p14:sldIdLst>
            <p14:sldId id="256"/>
          </p14:sldIdLst>
        </p14:section>
        <p14:section name="Phases" id="{7736227a-425c-571c-5691-29273da10aa4}">
          <p14:sldIdLst>
            <p14:sldId id="257"/>
          </p14:sldIdLst>
        </p14:section>
        <p14:section name="Timeline" id="{b4aebe73-9e0c-8199-2f2a-ce2b905a8d2f}">
          <p14:sldIdLst>
            <p14:sldId id="258"/>
          </p14:sldIdLst>
        </p14:section>
        <p14:section name="Time model" id="{2beb2805-f547-f981-8d9e-91e8ef86475d}">
          <p14:sldIdLst>
            <p14:sldId id="259"/>
          </p14:sldIdLst>
        </p14:section>
        <p14:section name="Needs" id="{02822524-1431-694e-3752-a5735a555dd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71A2D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71A2D"/>
                </a:solidFill>
                <a:latin typeface="+mn-lt"/>
              </a:rPr>
              <a:t>Hours per working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Aladdin (5 h)</c:v>
                </c:pt>
              </c:strCache>
            </c:strRef>
          </c:tx>
          <c:spPr>
            <a:solidFill>
              <a:srgbClr val="071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Each day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Talents (3 h)</c:v>
                </c:pt>
              </c:strCache>
            </c:strRef>
          </c:tx>
          <c:spPr>
            <a:solidFill>
              <a:srgbClr val="B96F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Each day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71A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9525" cap="flat">
              <a:solidFill>
                <a:srgbClr val="D8C7A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8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071A2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Aladdin  ·  6-week plan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 logo" descr="C:\Users\ebram.nabil\AppData\Local\Temp\claude\D--projects-aladdin-landing-base-20261011\07eefb4c-dffe-4a0a-af8e-7ef346bcfd57\scratchpad\deck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868680"/>
            <a:ext cx="4114800" cy="3995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822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8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Aladdin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delivery plan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8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months  ·  5 phases  ·  15,000 products</a:t>
            </a:r>
            <a:endParaRPr lang="en-US" sz="2000" dirty="0"/>
          </a:p>
        </p:txBody>
      </p:sp>
      <p:sp>
        <p:nvSpPr>
          <p:cNvPr id="6" name="Fact 1"/>
          <p:cNvSpPr/>
          <p:nvPr/>
        </p:nvSpPr>
        <p:spPr>
          <a:xfrm>
            <a:off x="822960" y="338328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0F2740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8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297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on Aladdin</a:t>
            </a:r>
            <a:endParaRPr lang="en-US" sz="1400" dirty="0"/>
          </a:p>
        </p:txBody>
      </p:sp>
      <p:sp>
        <p:nvSpPr>
          <p:cNvPr id="9" name="Fact 2"/>
          <p:cNvSpPr/>
          <p:nvPr/>
        </p:nvSpPr>
        <p:spPr>
          <a:xfrm>
            <a:off x="3063240" y="338328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0F2740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63240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8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4297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on Talents</a:t>
            </a:r>
            <a:endParaRPr lang="en-US" sz="1400" dirty="0"/>
          </a:p>
        </p:txBody>
      </p:sp>
      <p:sp>
        <p:nvSpPr>
          <p:cNvPr id="12" name="Fact 3"/>
          <p:cNvSpPr/>
          <p:nvPr/>
        </p:nvSpPr>
        <p:spPr>
          <a:xfrm>
            <a:off x="5303520" y="338328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0F2740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8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h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5440680" y="4297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Aladdin capacity in 6 weeks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349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daily hours for Talents cover tickets and problems, supervising tech logic and profiles, updates, and risk.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for Aladdin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6634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A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A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includes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A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A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A2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palette and logo on the landing page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the 2026 brand colors and logo to the landing page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W2–W3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marketplace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List, filters and product details on real data; landing section; release flag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W3–W5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and database for 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product schema, catalog, variants, stock, security,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W1–W2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BestTrade as a showroom account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the account through the existing flow and enable it as the first seller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15,000 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tool, image pipeline, batch load and exception handling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W3–W5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9728" marR="109728" marT="54864" marB="54864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7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7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150 h capacity; the remaining 12 h absorb slippage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7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7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7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W1–W6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7A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6 weeks</a:t>
            </a:r>
            <a:endParaRPr lang="en-US" sz="3600" dirty="0"/>
          </a:p>
        </p:txBody>
      </p:sp>
      <p:sp>
        <p:nvSpPr>
          <p:cNvPr id="3" name="Week 1 header"/>
          <p:cNvSpPr/>
          <p:nvPr/>
        </p:nvSpPr>
        <p:spPr>
          <a:xfrm>
            <a:off x="4297680" y="1554480"/>
            <a:ext cx="1178052" cy="4572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0" y="1554480"/>
            <a:ext cx="1178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Week 2 header"/>
          <p:cNvSpPr/>
          <p:nvPr/>
        </p:nvSpPr>
        <p:spPr>
          <a:xfrm>
            <a:off x="5521452" y="1554480"/>
            <a:ext cx="1178052" cy="4572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21452" y="1554480"/>
            <a:ext cx="1178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7" name="Week 3 header"/>
          <p:cNvSpPr/>
          <p:nvPr/>
        </p:nvSpPr>
        <p:spPr>
          <a:xfrm>
            <a:off x="6745224" y="1554480"/>
            <a:ext cx="1178052" cy="4572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45224" y="1554480"/>
            <a:ext cx="1178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9" name="Week 4 header"/>
          <p:cNvSpPr/>
          <p:nvPr/>
        </p:nvSpPr>
        <p:spPr>
          <a:xfrm>
            <a:off x="7968996" y="1554480"/>
            <a:ext cx="1178052" cy="457200"/>
          </a:xfrm>
          <a:prstGeom prst="rect">
            <a:avLst/>
          </a:prstGeom>
          <a:solidFill>
            <a:srgbClr val="B96F52"/>
          </a:solidFill>
          <a:ln w="12700">
            <a:solidFill>
              <a:srgbClr val="B96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68996" y="1554480"/>
            <a:ext cx="1178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11" name="Week 5 header"/>
          <p:cNvSpPr/>
          <p:nvPr/>
        </p:nvSpPr>
        <p:spPr>
          <a:xfrm>
            <a:off x="9192768" y="1554480"/>
            <a:ext cx="1178052" cy="457200"/>
          </a:xfrm>
          <a:prstGeom prst="rect">
            <a:avLst/>
          </a:prstGeom>
          <a:solidFill>
            <a:srgbClr val="B96F52"/>
          </a:solidFill>
          <a:ln w="12700">
            <a:solidFill>
              <a:srgbClr val="B96F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92768" y="1554480"/>
            <a:ext cx="1178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400" dirty="0"/>
          </a:p>
        </p:txBody>
      </p:sp>
      <p:sp>
        <p:nvSpPr>
          <p:cNvPr id="13" name="Week 6 header"/>
          <p:cNvSpPr/>
          <p:nvPr/>
        </p:nvSpPr>
        <p:spPr>
          <a:xfrm>
            <a:off x="10416540" y="1554480"/>
            <a:ext cx="1178052" cy="457200"/>
          </a:xfrm>
          <a:prstGeom prst="rect">
            <a:avLst/>
          </a:prstGeom>
          <a:solidFill>
            <a:srgbClr val="B96F52"/>
          </a:solidFill>
          <a:ln w="12700">
            <a:solidFill>
              <a:srgbClr val="B96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16540" y="1554480"/>
            <a:ext cx="1178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400" dirty="0"/>
          </a:p>
        </p:txBody>
      </p:sp>
      <p:sp>
        <p:nvSpPr>
          <p:cNvPr id="15" name="Row label 1"/>
          <p:cNvSpPr/>
          <p:nvPr/>
        </p:nvSpPr>
        <p:spPr>
          <a:xfrm>
            <a:off x="548640" y="214884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1488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Schema and database for products</a:t>
            </a:r>
            <a:endParaRPr lang="en-US" sz="1400" dirty="0"/>
          </a:p>
        </p:txBody>
      </p:sp>
      <p:sp>
        <p:nvSpPr>
          <p:cNvPr id="17" name="Bar 1"/>
          <p:cNvSpPr/>
          <p:nvPr/>
        </p:nvSpPr>
        <p:spPr>
          <a:xfrm>
            <a:off x="4297680" y="2148840"/>
            <a:ext cx="2401824" cy="384048"/>
          </a:xfrm>
          <a:prstGeom prst="roundRect">
            <a:avLst>
              <a:gd name="adj" fmla="val 19048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18" name="Row label 2"/>
          <p:cNvSpPr/>
          <p:nvPr/>
        </p:nvSpPr>
        <p:spPr>
          <a:xfrm>
            <a:off x="548640" y="260604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606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BestTrade showroom account</a:t>
            </a:r>
            <a:endParaRPr lang="en-US" sz="1400" dirty="0"/>
          </a:p>
        </p:txBody>
      </p:sp>
      <p:sp>
        <p:nvSpPr>
          <p:cNvPr id="20" name="Bar 2"/>
          <p:cNvSpPr/>
          <p:nvPr/>
        </p:nvSpPr>
        <p:spPr>
          <a:xfrm>
            <a:off x="5521452" y="2606040"/>
            <a:ext cx="1178052" cy="384048"/>
          </a:xfrm>
          <a:prstGeom prst="roundRect">
            <a:avLst>
              <a:gd name="adj" fmla="val 19048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21" name="Row label 3"/>
          <p:cNvSpPr/>
          <p:nvPr/>
        </p:nvSpPr>
        <p:spPr>
          <a:xfrm>
            <a:off x="548640" y="306324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063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Apply the new palette on landing</a:t>
            </a:r>
            <a:endParaRPr lang="en-US" sz="1400" dirty="0"/>
          </a:p>
        </p:txBody>
      </p:sp>
      <p:sp>
        <p:nvSpPr>
          <p:cNvPr id="23" name="Bar 3"/>
          <p:cNvSpPr/>
          <p:nvPr/>
        </p:nvSpPr>
        <p:spPr>
          <a:xfrm>
            <a:off x="5521452" y="3063240"/>
            <a:ext cx="2401824" cy="384048"/>
          </a:xfrm>
          <a:prstGeom prst="roundRect">
            <a:avLst>
              <a:gd name="adj" fmla="val 19048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24" name="Row label 4"/>
          <p:cNvSpPr/>
          <p:nvPr/>
        </p:nvSpPr>
        <p:spPr>
          <a:xfrm>
            <a:off x="548640" y="352044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520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 Import tool</a:t>
            </a:r>
            <a:endParaRPr lang="en-US" sz="1400" dirty="0"/>
          </a:p>
        </p:txBody>
      </p:sp>
      <p:sp>
        <p:nvSpPr>
          <p:cNvPr id="26" name="Bar 4"/>
          <p:cNvSpPr/>
          <p:nvPr/>
        </p:nvSpPr>
        <p:spPr>
          <a:xfrm>
            <a:off x="6745224" y="3520440"/>
            <a:ext cx="1178052" cy="384048"/>
          </a:xfrm>
          <a:prstGeom prst="roundRect">
            <a:avLst>
              <a:gd name="adj" fmla="val 19048"/>
            </a:avLst>
          </a:prstGeom>
          <a:solidFill>
            <a:srgbClr val="B96F52"/>
          </a:solidFill>
          <a:ln w="12700">
            <a:solidFill>
              <a:srgbClr val="B96F52"/>
            </a:solidFill>
            <a:prstDash val="solid"/>
          </a:ln>
        </p:spPr>
      </p:sp>
      <p:sp>
        <p:nvSpPr>
          <p:cNvPr id="27" name="Row label 5"/>
          <p:cNvSpPr/>
          <p:nvPr/>
        </p:nvSpPr>
        <p:spPr>
          <a:xfrm>
            <a:off x="548640" y="397764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977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Image pipeline</a:t>
            </a:r>
            <a:endParaRPr lang="en-US" sz="1400" dirty="0"/>
          </a:p>
        </p:txBody>
      </p:sp>
      <p:sp>
        <p:nvSpPr>
          <p:cNvPr id="29" name="Bar 5"/>
          <p:cNvSpPr/>
          <p:nvPr/>
        </p:nvSpPr>
        <p:spPr>
          <a:xfrm>
            <a:off x="7968996" y="3977640"/>
            <a:ext cx="1178052" cy="384048"/>
          </a:xfrm>
          <a:prstGeom prst="roundRect">
            <a:avLst>
              <a:gd name="adj" fmla="val 19048"/>
            </a:avLst>
          </a:prstGeom>
          <a:solidFill>
            <a:srgbClr val="B96F52"/>
          </a:solidFill>
          <a:ln w="12700">
            <a:solidFill>
              <a:srgbClr val="B96F52"/>
            </a:solidFill>
            <a:prstDash val="solid"/>
          </a:ln>
        </p:spPr>
      </p:sp>
      <p:sp>
        <p:nvSpPr>
          <p:cNvPr id="30" name="Row label 6"/>
          <p:cNvSpPr/>
          <p:nvPr/>
        </p:nvSpPr>
        <p:spPr>
          <a:xfrm>
            <a:off x="548640" y="443484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4348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 Load 15,000 and exceptions</a:t>
            </a:r>
            <a:endParaRPr lang="en-US" sz="1400" dirty="0"/>
          </a:p>
        </p:txBody>
      </p:sp>
      <p:sp>
        <p:nvSpPr>
          <p:cNvPr id="32" name="Bar 6"/>
          <p:cNvSpPr/>
          <p:nvPr/>
        </p:nvSpPr>
        <p:spPr>
          <a:xfrm>
            <a:off x="9192768" y="4434840"/>
            <a:ext cx="1178052" cy="384048"/>
          </a:xfrm>
          <a:prstGeom prst="roundRect">
            <a:avLst>
              <a:gd name="adj" fmla="val 19048"/>
            </a:avLst>
          </a:prstGeom>
          <a:solidFill>
            <a:srgbClr val="B96F52"/>
          </a:solidFill>
          <a:ln w="12700">
            <a:solidFill>
              <a:srgbClr val="B96F52"/>
            </a:solidFill>
            <a:prstDash val="solid"/>
          </a:ln>
        </p:spPr>
      </p:sp>
      <p:sp>
        <p:nvSpPr>
          <p:cNvPr id="33" name="Row label 7"/>
          <p:cNvSpPr/>
          <p:nvPr/>
        </p:nvSpPr>
        <p:spPr>
          <a:xfrm>
            <a:off x="548640" y="489204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4892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Marketplace on real data</a:t>
            </a:r>
            <a:endParaRPr lang="en-US" sz="1400" dirty="0"/>
          </a:p>
        </p:txBody>
      </p:sp>
      <p:sp>
        <p:nvSpPr>
          <p:cNvPr id="35" name="Bar 7"/>
          <p:cNvSpPr/>
          <p:nvPr/>
        </p:nvSpPr>
        <p:spPr>
          <a:xfrm>
            <a:off x="6745224" y="4892040"/>
            <a:ext cx="3625596" cy="384048"/>
          </a:xfrm>
          <a:prstGeom prst="roundRect">
            <a:avLst>
              <a:gd name="adj" fmla="val 19048"/>
            </a:avLst>
          </a:prstGeom>
          <a:solidFill>
            <a:srgbClr val="B96F52"/>
          </a:solidFill>
          <a:ln w="12700">
            <a:solidFill>
              <a:srgbClr val="B96F52"/>
            </a:solidFill>
            <a:prstDash val="solid"/>
          </a:ln>
        </p:spPr>
      </p:sp>
      <p:sp>
        <p:nvSpPr>
          <p:cNvPr id="36" name="Row label 8"/>
          <p:cNvSpPr/>
          <p:nvPr/>
        </p:nvSpPr>
        <p:spPr>
          <a:xfrm>
            <a:off x="548640" y="534924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349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Stabilize, test, demo, handover</a:t>
            </a:r>
            <a:endParaRPr lang="en-US" sz="1400" dirty="0"/>
          </a:p>
        </p:txBody>
      </p:sp>
      <p:sp>
        <p:nvSpPr>
          <p:cNvPr id="38" name="Bar 8"/>
          <p:cNvSpPr/>
          <p:nvPr/>
        </p:nvSpPr>
        <p:spPr>
          <a:xfrm>
            <a:off x="10416540" y="5349240"/>
            <a:ext cx="1178052" cy="384048"/>
          </a:xfrm>
          <a:prstGeom prst="roundRect">
            <a:avLst>
              <a:gd name="adj" fmla="val 19048"/>
            </a:avLst>
          </a:prstGeom>
          <a:solidFill>
            <a:srgbClr val="D8C7A6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is reserved for stabilization and any slippage; the plan has about 12 h of slack across the other weeks.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split: 5 h Aladdin, 3 h Talents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08760"/>
          <a:ext cx="4206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odel card 1"/>
          <p:cNvSpPr/>
          <p:nvPr/>
        </p:nvSpPr>
        <p:spPr>
          <a:xfrm>
            <a:off x="5120640" y="1600200"/>
            <a:ext cx="6492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94960" y="17556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Aladdin: 5 h/day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2240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h over 6 weeks (30 working days). 138 h planned, 12 h slack.</a:t>
            </a:r>
            <a:endParaRPr lang="en-US" sz="1500" dirty="0"/>
          </a:p>
        </p:txBody>
      </p:sp>
      <p:sp>
        <p:nvSpPr>
          <p:cNvPr id="7" name="Model card 2"/>
          <p:cNvSpPr/>
          <p:nvPr/>
        </p:nvSpPr>
        <p:spPr>
          <a:xfrm>
            <a:off x="5120640" y="3063240"/>
            <a:ext cx="6492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94960" y="32186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Talents: 3 h/day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703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and problems, supervising tech logic and profiles, updates, and risk.</a:t>
            </a:r>
            <a:endParaRPr lang="en-US" sz="1500" dirty="0"/>
          </a:p>
        </p:txBody>
      </p:sp>
      <p:sp>
        <p:nvSpPr>
          <p:cNvPr id="10" name="Model card 3"/>
          <p:cNvSpPr/>
          <p:nvPr/>
        </p:nvSpPr>
        <p:spPr>
          <a:xfrm>
            <a:off x="5120640" y="4526280"/>
            <a:ext cx="6492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94960" y="46817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hours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5166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 hours are not used for Aladdin scope; unused ones speed up delivery.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 to hold the timeline</a:t>
            </a:r>
            <a:endParaRPr lang="en-US" sz="3600" dirty="0"/>
          </a:p>
        </p:txBody>
      </p:sp>
      <p:sp>
        <p:nvSpPr>
          <p:cNvPr id="3" name="Need 1"/>
          <p:cNvSpPr/>
          <p:nvPr/>
        </p:nvSpPr>
        <p:spPr>
          <a:xfrm>
            <a:off x="548640" y="16002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4" name="Need 1 badge"/>
          <p:cNvSpPr/>
          <p:nvPr/>
        </p:nvSpPr>
        <p:spPr>
          <a:xfrm>
            <a:off x="731520" y="1874520"/>
            <a:ext cx="585216" cy="585216"/>
          </a:xfrm>
          <a:prstGeom prst="ellipse">
            <a:avLst/>
          </a:prstGeom>
          <a:solidFill>
            <a:srgbClr val="B96F52"/>
          </a:solidFill>
          <a:ln w="12700">
            <a:solidFill>
              <a:srgbClr val="B96F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Claude account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60020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work on both projects in parallel when a Talents ticket and an Aladdin task collide, so the timeframe is not broken.</a:t>
            </a:r>
            <a:endParaRPr lang="en-US" sz="1600" dirty="0"/>
          </a:p>
        </p:txBody>
      </p:sp>
      <p:sp>
        <p:nvSpPr>
          <p:cNvPr id="8" name="Need 2"/>
          <p:cNvSpPr/>
          <p:nvPr/>
        </p:nvSpPr>
        <p:spPr>
          <a:xfrm>
            <a:off x="548640" y="29718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9" name="Need 2 badge"/>
          <p:cNvSpPr/>
          <p:nvPr/>
        </p:nvSpPr>
        <p:spPr>
          <a:xfrm>
            <a:off x="731520" y="3246120"/>
            <a:ext cx="585216" cy="585216"/>
          </a:xfrm>
          <a:prstGeom prst="ellipse">
            <a:avLst/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9718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sample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7180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C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real product rows, and whether the 15,000 are products or sellable items.</a:t>
            </a:r>
            <a:endParaRPr lang="en-US" sz="1600" dirty="0"/>
          </a:p>
        </p:txBody>
      </p:sp>
      <p:sp>
        <p:nvSpPr>
          <p:cNvPr id="13" name="Need 3"/>
          <p:cNvSpPr/>
          <p:nvPr/>
        </p:nvSpPr>
        <p:spPr>
          <a:xfrm>
            <a:off x="548640" y="43434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7A6"/>
            </a:solidFill>
            <a:prstDash val="solid"/>
          </a:ln>
        </p:spPr>
      </p:sp>
      <p:sp>
        <p:nvSpPr>
          <p:cNvPr id="14" name="Need 3 badge"/>
          <p:cNvSpPr/>
          <p:nvPr/>
        </p:nvSpPr>
        <p:spPr>
          <a:xfrm>
            <a:off x="731520" y="4617720"/>
            <a:ext cx="585216" cy="585216"/>
          </a:xfrm>
          <a:prstGeom prst="ellipse">
            <a:avLst/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617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3434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34340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C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naming and size of the product images, and who provides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addin Brand 2026">
  <a:themeElements>
    <a:clrScheme name="Aladdin Brand 2026">
      <a:dk1>
        <a:srgbClr val="071A2D"/>
      </a:dk1>
      <a:lt1>
        <a:srgbClr val="FFFFFF"/>
      </a:lt1>
      <a:dk2>
        <a:srgbClr val="0F2740"/>
      </a:dk2>
      <a:lt2>
        <a:srgbClr val="F2E9D8"/>
      </a:lt2>
      <a:accent1>
        <a:srgbClr val="B96F52"/>
      </a:accent1>
      <a:accent2>
        <a:srgbClr val="D8C7A6"/>
      </a:accent2>
      <a:accent3>
        <a:srgbClr val="071A2D"/>
      </a:accent3>
      <a:accent4>
        <a:srgbClr val="8A5A45"/>
      </a:accent4>
      <a:accent5>
        <a:srgbClr val="A99B7E"/>
      </a:accent5>
      <a:accent6>
        <a:srgbClr val="5C6877"/>
      </a:accent6>
      <a:hlink>
        <a:srgbClr val="B96F52"/>
      </a:hlink>
      <a:folHlink>
        <a:srgbClr val="8A5A45"/>
      </a:folHlink>
    </a:clrScheme>
    <a:fontScheme name="Aladdin Brand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Aladdin — 6-week delivery plan</dc:title>
  <dc:subject>PptxGenJS Presentation</dc:subject>
  <dc:creator>Aladdin</dc:creator>
  <cp:lastModifiedBy>Aladdin</cp:lastModifiedBy>
  <cp:revision>1</cp:revision>
  <dcterms:created xsi:type="dcterms:W3CDTF">2026-10-12T06:55:11Z</dcterms:created>
  <dcterms:modified xsi:type="dcterms:W3CDTF">2026-10-12T06:55:11Z</dcterms:modified>
</cp:coreProperties>
</file>